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 Medium"/>
      <p:regular r:id="rId17"/>
    </p:embeddedFont>
    <p:embeddedFont>
      <p:font typeface="Barlow Medium"/>
      <p:regular r:id="rId18"/>
    </p:embeddedFont>
    <p:embeddedFont>
      <p:font typeface="Barlow Medium"/>
      <p:regular r:id="rId19"/>
    </p:embeddedFont>
    <p:embeddedFont>
      <p:font typeface="Barlow Medium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435066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ANNADATHA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491151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Food Wastage to Reusable Utilisation System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4037" y="4262557"/>
            <a:ext cx="1969056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150" y="4395907"/>
            <a:ext cx="197406" cy="1974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8259" y="4336613"/>
            <a:ext cx="1376720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 WASTE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2956441" y="4262557"/>
            <a:ext cx="2105263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4555" y="4395907"/>
            <a:ext cx="197406" cy="1974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00663" y="4336613"/>
            <a:ext cx="1512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FEED THE NEEDY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5185053" y="4262557"/>
            <a:ext cx="2611041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167" y="4395907"/>
            <a:ext cx="197406" cy="1974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29275" y="4336613"/>
            <a:ext cx="2018705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SUSTAINABILITY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64037" y="500431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by: M. Geetha, G. Parvathi, Sk. Sadiya, K. Keerthi, Ch. Prasanna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3056" y="995363"/>
            <a:ext cx="1363742" cy="336828"/>
          </a:xfrm>
          <a:prstGeom prst="roundRect">
            <a:avLst>
              <a:gd name="adj" fmla="val 18613"/>
            </a:avLst>
          </a:prstGeom>
          <a:noFill/>
          <a:ln w="7620">
            <a:solidFill>
              <a:srgbClr val="F65F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12595" y="1058942"/>
            <a:ext cx="1124664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93056" y="1388507"/>
            <a:ext cx="6039564" cy="518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 Surplus Meets Hunger Crisis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1458754" y="2118241"/>
            <a:ext cx="5168146" cy="5115878"/>
          </a:xfrm>
          <a:prstGeom prst="roundRect">
            <a:avLst>
              <a:gd name="adj" fmla="val 2626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325" y="2259211"/>
            <a:ext cx="248781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Stark Reality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45325" y="2711172"/>
            <a:ext cx="4795004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day, tonnes of perfectly edible food is discarded while millions remain hungry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55274" y="2276832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6058" y="2340888"/>
            <a:ext cx="2073235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Massive daily wastage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16058" y="2740938"/>
            <a:ext cx="5528667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Homes, restaurants, hostels, and events generate surplus food with no clear destination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55274" y="3546991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058" y="3611047"/>
            <a:ext cx="209121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Hidden hunger persists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16058" y="4011097"/>
            <a:ext cx="5528667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Despite food abundance, vulnerable communities struggle to access nutritious meals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955274" y="4817150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058" y="4881205"/>
            <a:ext cx="248281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Organic waste mismanaged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16058" y="5281255"/>
            <a:ext cx="5528667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Valuable resources dumped in landfills instead of being transformed into compost or energy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955274" y="6087308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058" y="6151364"/>
            <a:ext cx="2073235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 unified 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058" y="6551414"/>
            <a:ext cx="5528667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Lack of centralised, transparent systems for donation tracking and accountability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90655" y="1271230"/>
            <a:ext cx="1720691" cy="369689"/>
          </a:xfrm>
          <a:prstGeom prst="roundRect">
            <a:avLst>
              <a:gd name="adj" fmla="val 18290"/>
            </a:avLst>
          </a:prstGeom>
          <a:noFill/>
          <a:ln w="7620">
            <a:solidFill>
              <a:srgbClr val="F65F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19004" y="1339215"/>
            <a:ext cx="1463992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 SCENARIO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190655" y="1706523"/>
            <a:ext cx="5282327" cy="558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Existing Systems Fall Short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190655" y="2511504"/>
            <a:ext cx="2469118" cy="1964174"/>
          </a:xfrm>
          <a:prstGeom prst="roundRect">
            <a:avLst>
              <a:gd name="adj" fmla="val 430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99490" y="2720340"/>
            <a:ext cx="2051447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Manual coordination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99490" y="3098125"/>
            <a:ext cx="2051447" cy="87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Food donation relies on phone calls and volunteer availability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823722" y="2511504"/>
            <a:ext cx="2469237" cy="1964174"/>
          </a:xfrm>
          <a:prstGeom prst="roundRect">
            <a:avLst>
              <a:gd name="adj" fmla="val 430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32558" y="2720340"/>
            <a:ext cx="20515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 real-time updates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32558" y="3098125"/>
            <a:ext cx="2051566" cy="87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Donors and recipients operate without visibility or tracking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1456908" y="2511504"/>
            <a:ext cx="2469118" cy="1964174"/>
          </a:xfrm>
          <a:prstGeom prst="roundRect">
            <a:avLst>
              <a:gd name="adj" fmla="val 430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665744" y="2720340"/>
            <a:ext cx="2051447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 spoilage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665744" y="3098125"/>
            <a:ext cx="2051447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Delays and poor coordination lead to waste before distribution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190655" y="4639628"/>
            <a:ext cx="7735372" cy="1087636"/>
          </a:xfrm>
          <a:prstGeom prst="roundRect">
            <a:avLst>
              <a:gd name="adj" fmla="val 77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99490" y="4848463"/>
            <a:ext cx="223587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Trust deficit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399490" y="5226248"/>
            <a:ext cx="7317700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Lack of transparency prevents accountability and impact measurement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190655" y="5911691"/>
            <a:ext cx="7735491" cy="1046678"/>
          </a:xfrm>
          <a:prstGeom prst="roundRect">
            <a:avLst>
              <a:gd name="adj" fmla="val 8075"/>
            </a:avLst>
          </a:prstGeom>
          <a:solidFill>
            <a:srgbClr val="48040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870" y="6208038"/>
            <a:ext cx="251460" cy="201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44546" y="6125885"/>
            <a:ext cx="688038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Gap: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Without structured systems, even well-intentioned efforts fail to maximise social impact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71813" y="1677233"/>
            <a:ext cx="1065252" cy="220980"/>
          </a:xfrm>
          <a:prstGeom prst="roundRect">
            <a:avLst>
              <a:gd name="adj" fmla="val 21039"/>
            </a:avLst>
          </a:prstGeom>
          <a:solidFill>
            <a:srgbClr val="48040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54799" y="1732359"/>
            <a:ext cx="110609" cy="1106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20653" y="1718667"/>
            <a:ext cx="733425" cy="138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071813" y="1929170"/>
            <a:ext cx="3074789" cy="38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Introducing Annadatha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2516981"/>
            <a:ext cx="3192185" cy="3192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9040" y="2499598"/>
            <a:ext cx="4956929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smart mobile-based platform bridging surplus and need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609040" y="2802612"/>
            <a:ext cx="4956929" cy="749379"/>
          </a:xfrm>
          <a:prstGeom prst="roundRect">
            <a:avLst>
              <a:gd name="adj" fmla="val 9762"/>
            </a:avLst>
          </a:prstGeom>
          <a:solidFill>
            <a:srgbClr val="191718">
              <a:alpha val="95000"/>
            </a:srgbClr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93800" y="2802612"/>
            <a:ext cx="60960" cy="749379"/>
          </a:xfrm>
          <a:prstGeom prst="roundRect">
            <a:avLst>
              <a:gd name="adj" fmla="val 95334"/>
            </a:avLst>
          </a:prstGeom>
          <a:solidFill>
            <a:srgbClr val="F65F62"/>
          </a:solidFill>
          <a:ln/>
        </p:spPr>
      </p:sp>
      <p:sp>
        <p:nvSpPr>
          <p:cNvPr id="10" name="Text 6"/>
          <p:cNvSpPr/>
          <p:nvPr/>
        </p:nvSpPr>
        <p:spPr>
          <a:xfrm>
            <a:off x="6808351" y="2956203"/>
            <a:ext cx="1538407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Connects stakeholders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08351" y="3225760"/>
            <a:ext cx="46040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Links food providers directly with NGOs, shelters, and waste processors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609040" y="3629501"/>
            <a:ext cx="4956929" cy="749379"/>
          </a:xfrm>
          <a:prstGeom prst="roundRect">
            <a:avLst>
              <a:gd name="adj" fmla="val 9762"/>
            </a:avLst>
          </a:prstGeom>
          <a:solidFill>
            <a:srgbClr val="191718">
              <a:alpha val="95000"/>
            </a:srgbClr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93800" y="3629501"/>
            <a:ext cx="60960" cy="749379"/>
          </a:xfrm>
          <a:prstGeom prst="roundRect">
            <a:avLst>
              <a:gd name="adj" fmla="val 95334"/>
            </a:avLst>
          </a:prstGeom>
          <a:solidFill>
            <a:srgbClr val="F65F62"/>
          </a:solidFill>
          <a:ln/>
        </p:spPr>
      </p:sp>
      <p:sp>
        <p:nvSpPr>
          <p:cNvPr id="14" name="Text 10"/>
          <p:cNvSpPr/>
          <p:nvPr/>
        </p:nvSpPr>
        <p:spPr>
          <a:xfrm>
            <a:off x="6808351" y="3783092"/>
            <a:ext cx="153733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Smart classification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08351" y="4052649"/>
            <a:ext cx="46040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Automatically categorises food and waste based on condition and type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609040" y="4456390"/>
            <a:ext cx="4956929" cy="749379"/>
          </a:xfrm>
          <a:prstGeom prst="roundRect">
            <a:avLst>
              <a:gd name="adj" fmla="val 9762"/>
            </a:avLst>
          </a:prstGeom>
          <a:solidFill>
            <a:srgbClr val="191718">
              <a:alpha val="95000"/>
            </a:srgbClr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93800" y="4456390"/>
            <a:ext cx="60960" cy="749379"/>
          </a:xfrm>
          <a:prstGeom prst="roundRect">
            <a:avLst>
              <a:gd name="adj" fmla="val 95334"/>
            </a:avLst>
          </a:prstGeom>
          <a:solidFill>
            <a:srgbClr val="F65F62"/>
          </a:solidFill>
          <a:ln/>
        </p:spPr>
      </p:sp>
      <p:sp>
        <p:nvSpPr>
          <p:cNvPr id="18" name="Text 14"/>
          <p:cNvSpPr/>
          <p:nvPr/>
        </p:nvSpPr>
        <p:spPr>
          <a:xfrm>
            <a:off x="6808351" y="4609981"/>
            <a:ext cx="1537335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Timely coordination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808351" y="4879538"/>
            <a:ext cx="46040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Ensures rapid pickup and distribution before food quality deteriorates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609040" y="5283279"/>
            <a:ext cx="4956929" cy="749379"/>
          </a:xfrm>
          <a:prstGeom prst="roundRect">
            <a:avLst>
              <a:gd name="adj" fmla="val 9762"/>
            </a:avLst>
          </a:prstGeom>
          <a:solidFill>
            <a:srgbClr val="191718">
              <a:alpha val="95000"/>
            </a:srgbClr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93800" y="5283279"/>
            <a:ext cx="60960" cy="749379"/>
          </a:xfrm>
          <a:prstGeom prst="roundRect">
            <a:avLst>
              <a:gd name="adj" fmla="val 95334"/>
            </a:avLst>
          </a:prstGeom>
          <a:solidFill>
            <a:srgbClr val="F65F62"/>
          </a:solidFill>
          <a:ln/>
        </p:spPr>
      </p:sp>
      <p:sp>
        <p:nvSpPr>
          <p:cNvPr id="22" name="Text 18"/>
          <p:cNvSpPr/>
          <p:nvPr/>
        </p:nvSpPr>
        <p:spPr>
          <a:xfrm>
            <a:off x="6808351" y="5436870"/>
            <a:ext cx="1742480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Real-time impact tracking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808351" y="5706427"/>
            <a:ext cx="46040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Monitors every donation from post to delivery, measuring social outcomes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816566" y="6119812"/>
            <a:ext cx="474940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Mission: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Transform surplus food and organic waste into valuable resources that nourish communities and protect the environment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609040" y="6119812"/>
            <a:ext cx="15240" cy="345281"/>
          </a:xfrm>
          <a:prstGeom prst="rect">
            <a:avLst/>
          </a:prstGeom>
          <a:solidFill>
            <a:srgbClr val="F65F6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9608" y="339447"/>
            <a:ext cx="819864" cy="207645"/>
          </a:xfrm>
          <a:prstGeom prst="roundRect">
            <a:avLst>
              <a:gd name="adj" fmla="val 19975"/>
            </a:avLst>
          </a:prstGeom>
          <a:noFill/>
          <a:ln w="7620">
            <a:solidFill>
              <a:srgbClr val="F65F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11285" y="384096"/>
            <a:ext cx="656511" cy="118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529608" y="571738"/>
            <a:ext cx="35936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Simple, Transparent Workflow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0813" y="1007150"/>
            <a:ext cx="7328654" cy="274998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9507" y="1707621"/>
            <a:ext cx="378547" cy="3785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72246" y="3101381"/>
            <a:ext cx="1105355" cy="189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 Delivered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3673" y="1708330"/>
            <a:ext cx="378546" cy="3785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79196" y="3006745"/>
            <a:ext cx="1105356" cy="378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Volunteer Collects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8193" y="1708330"/>
            <a:ext cx="378547" cy="3785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93716" y="3101381"/>
            <a:ext cx="1105356" cy="189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Notify NGO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52713" y="1708330"/>
            <a:ext cx="378546" cy="37854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08235" y="3006745"/>
            <a:ext cx="1105356" cy="378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System Classifies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59662" y="1708330"/>
            <a:ext cx="378546" cy="37854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992472" y="3101381"/>
            <a:ext cx="1105355" cy="189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Post Food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3529608" y="3826550"/>
            <a:ext cx="757118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Annadatha creates a seamless journey from surplus to service, ensuring nothing is wasted and everyone is informed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3529608" y="4044077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3683913" y="4298633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4085034" y="4167426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Post donation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4085034" y="4375904"/>
            <a:ext cx="701575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logs in and shares food or waste details with photos and quantity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3529608" y="4846320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3683913" y="510087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4085034" y="4969669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Intelligent matching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4085034" y="5178147"/>
            <a:ext cx="701575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analyses condition, type, and location to find the best recipient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3529608" y="5648563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83913" y="5903119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085034" y="5771912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Instant notification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085034" y="5980390"/>
            <a:ext cx="701575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Nearby NGO or waste partner receives alert with pickup details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3529608" y="6450806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683913" y="6705362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4085034" y="6574155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Coordinated collection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085034" y="6782633"/>
            <a:ext cx="701575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Verified volunteer arrives at scheduled time to collect donation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529608" y="7253049"/>
            <a:ext cx="493752" cy="740569"/>
          </a:xfrm>
          <a:prstGeom prst="roundRect">
            <a:avLst>
              <a:gd name="adj" fmla="val 36001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683913" y="7507605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5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4085034" y="7376398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Impact confirmation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085034" y="7584877"/>
            <a:ext cx="701575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Completion updates sent to donor with beneficiary count and environmental metrics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881" y="686276"/>
            <a:ext cx="38164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Transforming Waste Into Worth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28881" y="1200745"/>
            <a:ext cx="1689616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Uses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8881" y="1484948"/>
            <a:ext cx="316706" cy="3167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8881" y="188285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Surplus food donation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28881" y="2123837"/>
            <a:ext cx="373177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Channel excess meals from homes, restaurants, and events directly to those in need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8881" y="2560558"/>
            <a:ext cx="316706" cy="3167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8881" y="2958465"/>
            <a:ext cx="1575792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Organic waste conversion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28881" y="3199448"/>
            <a:ext cx="373177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Transform food scraps into nutrient-rich compost and renewable biogas energy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8881" y="3636169"/>
            <a:ext cx="316706" cy="3167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28881" y="403407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NGO empowerment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428881" y="4275058"/>
            <a:ext cx="373177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 shelters and community kitchens with reliable food sources and resources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8881" y="4711779"/>
            <a:ext cx="316706" cy="3167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28881" y="510968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Landfill reduction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428881" y="5350669"/>
            <a:ext cx="3731776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Divert thousands of tonnes of organic waste from polluting dumpsites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7477363" y="1200745"/>
            <a:ext cx="1689616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Benefits Delivered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7363" y="1484948"/>
            <a:ext cx="3731776" cy="373177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477363" y="5289828"/>
            <a:ext cx="1833324" cy="969645"/>
          </a:xfrm>
          <a:prstGeom prst="roundRect">
            <a:avLst>
              <a:gd name="adj" fmla="val 54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7611666" y="542413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Zero hunger action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7611666" y="5665113"/>
            <a:ext cx="1564719" cy="46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Ensure nutritious food reaches vulnerable populations daily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9375696" y="5289828"/>
            <a:ext cx="1833443" cy="969645"/>
          </a:xfrm>
          <a:prstGeom prst="roundRect">
            <a:avLst>
              <a:gd name="adj" fmla="val 548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9509998" y="542413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Environmental care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9509998" y="5665113"/>
            <a:ext cx="1564838" cy="46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 methane emissions and create circular economy solutions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7477363" y="6324481"/>
            <a:ext cx="1833324" cy="1145619"/>
          </a:xfrm>
          <a:prstGeom prst="roundRect">
            <a:avLst>
              <a:gd name="adj" fmla="val 464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611666" y="6458783"/>
            <a:ext cx="1564719" cy="35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Trust through transparency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611666" y="6875740"/>
            <a:ext cx="1564719" cy="46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 every donation with verified delivery and impact data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375696" y="6324481"/>
            <a:ext cx="1833443" cy="1145619"/>
          </a:xfrm>
          <a:prstGeom prst="roundRect">
            <a:avLst>
              <a:gd name="adj" fmla="val 464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509998" y="645878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Efficient coordination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509998" y="6699766"/>
            <a:ext cx="1564838" cy="46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Eliminate delays and maximise food utilisation before spoilage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2067" y="1097875"/>
            <a:ext cx="1123831" cy="212646"/>
          </a:xfrm>
          <a:prstGeom prst="roundRect">
            <a:avLst>
              <a:gd name="adj" fmla="val 21193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3282434" y="1137999"/>
            <a:ext cx="963097" cy="13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MARKET POTENTIAL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2067" y="1339572"/>
            <a:ext cx="4561165" cy="372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Reaching Communities That Matter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2067" y="1821180"/>
            <a:ext cx="1153239" cy="11532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2067" y="3065383"/>
            <a:ext cx="149018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Homes &amp; Individuals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02067" y="3295412"/>
            <a:ext cx="1988344" cy="4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Empower households to donate surplus from daily cooking and celebrations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374" y="1821180"/>
            <a:ext cx="1153239" cy="11532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1374" y="3065383"/>
            <a:ext cx="149018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Restaurants &amp; Hotels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281374" y="3295412"/>
            <a:ext cx="1988344" cy="4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Help hospitality sector redirect excess inventory and buffet leftovers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682" y="1821180"/>
            <a:ext cx="1153239" cy="11532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0682" y="3065383"/>
            <a:ext cx="1757601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Hostels &amp; Event Organisers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360682" y="3295412"/>
            <a:ext cx="1988344" cy="496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large-scale food surplus from institutional dining and functions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989" y="1821180"/>
            <a:ext cx="1153239" cy="11532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39989" y="3065383"/>
            <a:ext cx="1864638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NGOs &amp; Community Kitchens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9439989" y="3295412"/>
            <a:ext cx="1988344" cy="331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Streamline food collection for shelters and feeding programmes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067" y="3937873"/>
            <a:ext cx="1153239" cy="11532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2067" y="5182076"/>
            <a:ext cx="164639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Waste Management Units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3202067" y="5412105"/>
            <a:ext cx="1988344" cy="331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 efficient organic waste processing and resource recovery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02067" y="5892239"/>
            <a:ext cx="8226266" cy="24289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3202067" y="6071116"/>
            <a:ext cx="192393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Expansion Opportunities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202067" y="6367343"/>
            <a:ext cx="3949541" cy="662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city sustainability initiatives</a:t>
            </a:r>
            <a:endParaRPr lang="en-US" sz="105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Corporate CSR partnerships</a:t>
            </a:r>
            <a:endParaRPr lang="en-US" sz="105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Government waste management programmes</a:t>
            </a:r>
            <a:endParaRPr lang="en-US" sz="105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NGO and social enterprise ecosystems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389852" y="5998369"/>
            <a:ext cx="4142661" cy="1133356"/>
          </a:xfrm>
          <a:prstGeom prst="roundRect">
            <a:avLst>
              <a:gd name="adj" fmla="val 8521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7523917" y="6071116"/>
            <a:ext cx="1788319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Market Scale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523917" y="6367343"/>
            <a:ext cx="3874532" cy="331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 generates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68 million tonnes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food waste annually, while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190 million people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remain food insecure—Annadatha bridges this gap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6074" y="1131213"/>
            <a:ext cx="1251109" cy="248841"/>
          </a:xfrm>
          <a:prstGeom prst="roundRect">
            <a:avLst>
              <a:gd name="adj" fmla="val 19546"/>
            </a:avLst>
          </a:prstGeom>
          <a:noFill/>
          <a:ln w="7620">
            <a:solidFill>
              <a:srgbClr val="F65F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70490" y="1182172"/>
            <a:ext cx="1062276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76074" y="1413986"/>
            <a:ext cx="3298627" cy="40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Built With Modern Tools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074" y="2038707"/>
            <a:ext cx="4262557" cy="4262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9390" y="2028111"/>
            <a:ext cx="1930003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Development Platform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9390" y="2581751"/>
            <a:ext cx="2088832" cy="1358622"/>
          </a:xfrm>
          <a:prstGeom prst="roundRect">
            <a:avLst>
              <a:gd name="adj" fmla="val 5384"/>
            </a:avLst>
          </a:prstGeom>
          <a:solidFill>
            <a:srgbClr val="191718">
              <a:alpha val="9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499390" y="2566511"/>
            <a:ext cx="2088832" cy="60960"/>
          </a:xfrm>
          <a:prstGeom prst="roundRect">
            <a:avLst>
              <a:gd name="adj" fmla="val 99733"/>
            </a:avLst>
          </a:prstGeom>
          <a:solidFill>
            <a:srgbClr val="F65F62"/>
          </a:solidFill>
          <a:ln/>
        </p:spPr>
      </p:sp>
      <p:sp>
        <p:nvSpPr>
          <p:cNvPr id="9" name="Shape 6"/>
          <p:cNvSpPr/>
          <p:nvPr/>
        </p:nvSpPr>
        <p:spPr>
          <a:xfrm>
            <a:off x="8326695" y="2364700"/>
            <a:ext cx="434221" cy="434221"/>
          </a:xfrm>
          <a:prstGeom prst="roundRect">
            <a:avLst>
              <a:gd name="adj" fmla="val 210584"/>
            </a:avLst>
          </a:prstGeom>
          <a:solidFill>
            <a:srgbClr val="F65F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6950" y="2494955"/>
            <a:ext cx="173593" cy="173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9291" y="2943582"/>
            <a:ext cx="1608296" cy="20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Lovable / Base44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59291" y="3229332"/>
            <a:ext cx="1769031" cy="55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Rapid app generation, workflow automation, and user experience design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672995" y="2581751"/>
            <a:ext cx="2088952" cy="1358622"/>
          </a:xfrm>
          <a:prstGeom prst="roundRect">
            <a:avLst>
              <a:gd name="adj" fmla="val 5384"/>
            </a:avLst>
          </a:prstGeom>
          <a:solidFill>
            <a:srgbClr val="191718">
              <a:alpha val="9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9672995" y="2566511"/>
            <a:ext cx="2088952" cy="60960"/>
          </a:xfrm>
          <a:prstGeom prst="roundRect">
            <a:avLst>
              <a:gd name="adj" fmla="val 99733"/>
            </a:avLst>
          </a:prstGeom>
          <a:solidFill>
            <a:srgbClr val="F65F62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00300" y="2364700"/>
            <a:ext cx="434221" cy="434221"/>
          </a:xfrm>
          <a:prstGeom prst="roundRect">
            <a:avLst>
              <a:gd name="adj" fmla="val 210584"/>
            </a:avLst>
          </a:prstGeom>
          <a:solidFill>
            <a:srgbClr val="F65F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0555" y="2494955"/>
            <a:ext cx="173593" cy="173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32896" y="2943582"/>
            <a:ext cx="1608296" cy="20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Replit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832896" y="3229332"/>
            <a:ext cx="1769150" cy="55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 logic development, API integration, and cloud hosting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99390" y="4242197"/>
            <a:ext cx="4262557" cy="1174909"/>
          </a:xfrm>
          <a:prstGeom prst="roundRect">
            <a:avLst>
              <a:gd name="adj" fmla="val 6226"/>
            </a:avLst>
          </a:prstGeom>
          <a:solidFill>
            <a:srgbClr val="191718">
              <a:alpha val="9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499390" y="4226957"/>
            <a:ext cx="4262557" cy="60960"/>
          </a:xfrm>
          <a:prstGeom prst="roundRect">
            <a:avLst>
              <a:gd name="adj" fmla="val 99733"/>
            </a:avLst>
          </a:prstGeom>
          <a:solidFill>
            <a:srgbClr val="F65F62"/>
          </a:solidFill>
          <a:ln/>
        </p:spPr>
      </p:sp>
      <p:sp>
        <p:nvSpPr>
          <p:cNvPr id="21" name="Shape 16"/>
          <p:cNvSpPr/>
          <p:nvPr/>
        </p:nvSpPr>
        <p:spPr>
          <a:xfrm>
            <a:off x="9413498" y="4025146"/>
            <a:ext cx="434221" cy="434221"/>
          </a:xfrm>
          <a:prstGeom prst="roundRect">
            <a:avLst>
              <a:gd name="adj" fmla="val 210584"/>
            </a:avLst>
          </a:prstGeom>
          <a:solidFill>
            <a:srgbClr val="F65F6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3752" y="4155400"/>
            <a:ext cx="173593" cy="173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59291" y="4604028"/>
            <a:ext cx="1608296" cy="20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Firebase / Supabase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59291" y="4889778"/>
            <a:ext cx="3942755" cy="36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Secure authentication, real-time database, and data synchronisation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9390" y="5584740"/>
            <a:ext cx="4262557" cy="25598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7499390" y="5705594"/>
            <a:ext cx="1930003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99390" y="6031587"/>
            <a:ext cx="4262557" cy="91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Mobile-first web application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universal access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backend infrastructure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ensuring scalability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Maps &amp; geolocation services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proximity matching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 notification system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real-time updates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Image recognition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food quality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34634" y="652582"/>
            <a:ext cx="1313974" cy="304324"/>
          </a:xfrm>
          <a:prstGeom prst="roundRect">
            <a:avLst>
              <a:gd name="adj" fmla="val 19731"/>
            </a:avLst>
          </a:prstGeom>
          <a:solidFill>
            <a:srgbClr val="48040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1790" y="733306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6103" y="706160"/>
            <a:ext cx="885349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COMING SOON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34634" y="1008578"/>
            <a:ext cx="397133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Future Enhancements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2013347" y="1967032"/>
            <a:ext cx="178594" cy="804029"/>
          </a:xfrm>
          <a:prstGeom prst="roundRect">
            <a:avLst>
              <a:gd name="adj" fmla="val 4202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34634" y="1849755"/>
            <a:ext cx="536019" cy="536019"/>
          </a:xfrm>
          <a:prstGeom prst="roundRect">
            <a:avLst>
              <a:gd name="adj" fmla="val 85295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8579" y="1983700"/>
            <a:ext cx="268010" cy="2680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9955" y="1877616"/>
            <a:ext cx="251114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AI-powered quality detection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2499955" y="2203371"/>
            <a:ext cx="1029569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Computer vision to automatically assess food freshness and safety before distribution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281357" y="3168491"/>
            <a:ext cx="178594" cy="804029"/>
          </a:xfrm>
          <a:prstGeom prst="roundRect">
            <a:avLst>
              <a:gd name="adj" fmla="val 4202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102644" y="3051215"/>
            <a:ext cx="536019" cy="536019"/>
          </a:xfrm>
          <a:prstGeom prst="roundRect">
            <a:avLst>
              <a:gd name="adj" fmla="val 85295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6589" y="3185160"/>
            <a:ext cx="268010" cy="2680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67965" y="3079075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Smart IoT bins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2767965" y="3404830"/>
            <a:ext cx="1002768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Connected waste containers with sensors monitoring fill levels and organic composition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2549366" y="4369951"/>
            <a:ext cx="178594" cy="804029"/>
          </a:xfrm>
          <a:prstGeom prst="roundRect">
            <a:avLst>
              <a:gd name="adj" fmla="val 4202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70653" y="4252674"/>
            <a:ext cx="536019" cy="536019"/>
          </a:xfrm>
          <a:prstGeom prst="roundRect">
            <a:avLst>
              <a:gd name="adj" fmla="val 85295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4599" y="4386620"/>
            <a:ext cx="268010" cy="2680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035975" y="4280535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Multilingual support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3035975" y="4606290"/>
            <a:ext cx="975967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Interface in regional Indian languages to expand accessibility across diverse communities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2817495" y="5571411"/>
            <a:ext cx="178594" cy="804029"/>
          </a:xfrm>
          <a:prstGeom prst="roundRect">
            <a:avLst>
              <a:gd name="adj" fmla="val 4202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638782" y="5454134"/>
            <a:ext cx="536019" cy="536019"/>
          </a:xfrm>
          <a:prstGeom prst="roundRect">
            <a:avLst>
              <a:gd name="adj" fmla="val 85295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72728" y="5588079"/>
            <a:ext cx="268010" cy="2680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304103" y="5481995"/>
            <a:ext cx="198560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Analytics dashboard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3304103" y="5807750"/>
            <a:ext cx="949154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Comprehensive impact metrics, trend analysis, and reporting for stakeholders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2549366" y="6772870"/>
            <a:ext cx="178594" cy="804029"/>
          </a:xfrm>
          <a:prstGeom prst="roundRect">
            <a:avLst>
              <a:gd name="adj" fmla="val 4202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370653" y="6655594"/>
            <a:ext cx="536019" cy="536019"/>
          </a:xfrm>
          <a:prstGeom prst="roundRect">
            <a:avLst>
              <a:gd name="adj" fmla="val 85295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4599" y="6789539"/>
            <a:ext cx="268010" cy="26801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035975" y="6683454"/>
            <a:ext cx="205632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Government integration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3035975" y="7009209"/>
            <a:ext cx="975967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Seamless connection with public distribution systems and municipal waste programmes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5516" y="465892"/>
            <a:ext cx="3688199" cy="461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From Waste to Worth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225516" y="1219676"/>
            <a:ext cx="2387798" cy="2194679"/>
          </a:xfrm>
          <a:prstGeom prst="roundRect">
            <a:avLst>
              <a:gd name="adj" fmla="val 317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8990" y="1393150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F65F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5912" y="1529953"/>
            <a:ext cx="223957" cy="223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8990" y="2002512"/>
            <a:ext cx="1844040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Real-world impact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398990" y="2344579"/>
            <a:ext cx="204085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Addressing hunger and waste simultaneously with measurable social outcomes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24876" y="1219676"/>
            <a:ext cx="2387918" cy="2194679"/>
          </a:xfrm>
          <a:prstGeom prst="roundRect">
            <a:avLst>
              <a:gd name="adj" fmla="val 317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8350" y="1393150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F65F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5272" y="1529953"/>
            <a:ext cx="223957" cy="2239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8350" y="2002512"/>
            <a:ext cx="2040969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Technology meets compassion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8350" y="2575084"/>
            <a:ext cx="2040969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innovation serving humanity's most fundamental needs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225516" y="3525917"/>
            <a:ext cx="2387798" cy="1964174"/>
          </a:xfrm>
          <a:prstGeom prst="roundRect">
            <a:avLst>
              <a:gd name="adj" fmla="val 354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98990" y="3699391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F65F6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5912" y="3836194"/>
            <a:ext cx="223957" cy="2239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98990" y="4308753"/>
            <a:ext cx="1844040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Scalable solution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2398990" y="4650819"/>
            <a:ext cx="2040850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Designed to expand across cities, states, and eventually the nation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24876" y="3525917"/>
            <a:ext cx="2387918" cy="1964174"/>
          </a:xfrm>
          <a:prstGeom prst="roundRect">
            <a:avLst>
              <a:gd name="adj" fmla="val 354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8350" y="3699391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F65F6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5272" y="3836194"/>
            <a:ext cx="223957" cy="22395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8350" y="4308753"/>
            <a:ext cx="1844040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 SDG alignment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8350" y="4650819"/>
            <a:ext cx="2040969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Contributing directly to Zero Hunger and Sustainable Cities goals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226" y="1219676"/>
            <a:ext cx="4887278" cy="48872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4067" y="6232446"/>
            <a:ext cx="463843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"Annadatha Makes a Difference"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774067" y="6610231"/>
            <a:ext cx="4638437" cy="443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Join us in building a future where no food is wasted and no one goes hungry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525226" y="6232446"/>
            <a:ext cx="22860" cy="82165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7" name="Shape 20"/>
          <p:cNvSpPr/>
          <p:nvPr/>
        </p:nvSpPr>
        <p:spPr>
          <a:xfrm>
            <a:off x="2225516" y="7388006"/>
            <a:ext cx="10179368" cy="2833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2225516" y="7541776"/>
            <a:ext cx="10179368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Together, we transform surplus into sustenance, waste into worth, and compassion into action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2026-01-28T06:34:53Z</dcterms:created>
  <dcterms:modified xsi:type="dcterms:W3CDTF">2026-01-28T06:34:53Z</dcterms:modified>
</cp:coreProperties>
</file>